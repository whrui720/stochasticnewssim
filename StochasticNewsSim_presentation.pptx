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6240"/>
            <a:ext cx="12191695" cy="182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i="0" b="1">
                <a:solidFill>
                  <a:srgbClr val="8B1A1A"/>
                </a:solidFill>
                <a:latin typeface="Calibri"/>
              </a:rPr>
              <a:t>STAT 460  ·  Stochastic Processes  · 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i="0" b="1">
                <a:solidFill>
                  <a:srgbClr val="0B2A4A"/>
                </a:solidFill>
                <a:latin typeface="Calibri"/>
              </a:rPr>
              <a:t>Stochastics of News Article Propagation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i="0" b="0">
                <a:solidFill>
                  <a:srgbClr val="333333"/>
                </a:solidFill>
                <a:latin typeface="Calibri"/>
              </a:rPr>
              <a:t>Modelling counts and reliability dynamics around the 2017 Las Vegas shooting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i="0" b="1">
                <a:solidFill>
                  <a:srgbClr val="0B2A4A"/>
                </a:solidFill>
                <a:latin typeface="Calibri"/>
              </a:rPr>
              <a:t>Harry Wang  ·  Sriyan Madugula  ·  Ruthesh Thavamani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i="0" b="0">
                <a:solidFill>
                  <a:srgbClr val="333333"/>
                </a:solidFill>
                <a:latin typeface="Calibri"/>
              </a:rPr>
              <a:t>University of Michigan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Joint stochastic modelling of news volume and reliability after a singular event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585216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A single high-impact event triggers a cascade of articles across many outlets over the following days/weeks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Coverage volume decays, but the *mix* of reliable vs unreliable sources also evolves — and is itself a stochastic process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Test case: 2017 Las Vegas shooting — clean, isolated, exogenously-triggered news shock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24612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Questions and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11880"/>
            <a:ext cx="585216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Part A:  what stochastic process best describes the daily article count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following the event?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Part B:  what process governs the reliable / unreliable composition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of that coverage?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Gap addressed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Volume dynamics and reliability dynamics are typically studied in isolation — we model both on the same event window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Stochastic-process treatment of the reliability *mix* at event-level granularity is rare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Cross-excitation between reliable and unreliable streams is largely unexamined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960120"/>
            <a:ext cx="5577840" cy="553212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960120"/>
            <a:ext cx="557784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10528" y="996696"/>
            <a:ext cx="535838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200" i="0" b="1">
                <a:solidFill>
                  <a:srgbClr val="FFFFFF"/>
                </a:solidFill>
                <a:latin typeface="Calibri"/>
              </a:rPr>
              <a:t>Prior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1362456"/>
            <a:ext cx="5248656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Point-process models of online attention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Crane &amp; Sornette (PNAS, 2008) — endogenous vs exogenous bursts in YouTube views via Hawkes-type response functions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Zhao et al. SEISMIC (KDD, 2015);  Mishra, Rizoiu &amp; Xie (2016) — self-exciting models for tweet and retweet cascades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Daley &amp; Vere-Jones (2003) — standard reference for inhomogeneous Poisson and Hawkes processes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Misinformation and reliability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Vosoughi, Roy &amp; Aral (Science, 2018) — false news spreads farther and faster than true news on Twitter (descriptive, not generative)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Allcott &amp; Gentzkow (JEP, 2017) — economics of fake news during the 2016 election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Tambuscio et al. (2015) — SIR-style compartmental models of hoax diffusion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Reliability labels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NewsGuard, Media Bias / Fact Check — outlet-level reliability scores; used downstream of classification, rarely as the response in a stochastic model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Our contribution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Joint event-level study: counting process for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(Part A) plus a shared-likelihood comparison of Hawkes and Markov dynamics for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(Part B)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CC-News articles cross-joined with NewsGuard reliability scores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85216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Source: CC-News crawl, filtered to articles covering the 2017 Las Vegas shooting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Date range: 2017-10-02 → 2017-12-31 (91 days, zero-filled)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2,702 articles  ·  29.7 articles/day mean  ·  peak 489 on day 0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Reliability label constructed by joining CC-News with NewsGuard scores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Score thresholded at the median to produce a binary label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±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63.5% reliable  /  36.5% unreliable across the corpus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Limitations of the dataset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Binary reliability label — the underlying NewsGuard score is continuous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Daily granularity only — within-day burst structure is invisible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Single event window — generality across event types is untested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Coverage gaps on quiet days are zero-filled, not imputed</a:t>
            </a:r>
          </a:p>
        </p:txBody>
      </p:sp>
      <p:pic>
        <p:nvPicPr>
          <p:cNvPr id="8" name="Picture 7" descr="fig1_observed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68231"/>
            <a:ext cx="5486400" cy="20701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6263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i="0" b="0">
                <a:solidFill>
                  <a:srgbClr val="777777"/>
                </a:solidFill>
                <a:latin typeface="Calibri"/>
              </a:rPr>
              <a:t>Stacked daily counts by reliability category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A  ·  Modelling the Counting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Three base models fit by maximum conditional Poisson log-likelihood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76072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Standard Poisson  —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(1 param, null model)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Inhomogeneous Poisson  —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e</a:t>
            </a:r>
            <a:r>
              <a:rPr sz="1008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1008" i="1" b="0" baseline="30000">
                <a:solidFill>
                  <a:srgbClr val="333333"/>
                </a:solidFill>
                <a:latin typeface="Cambria Math"/>
              </a:rPr>
              <a:t>β</a:t>
            </a:r>
            <a:r>
              <a:rPr sz="1008" i="0" b="0" baseline="30000">
                <a:solidFill>
                  <a:srgbClr val="333333"/>
                </a:solidFill>
                <a:latin typeface="Cambria Math"/>
              </a:rPr>
              <a:t> </a:t>
            </a:r>
            <a:r>
              <a:rPr sz="1008" i="1" b="0" baseline="3000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c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(3 params)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Discrete-time Hawkes  —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α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R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R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e</a:t>
            </a:r>
            <a:r>
              <a:rPr sz="1008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1008" i="1" b="0" baseline="30000">
                <a:solidFill>
                  <a:srgbClr val="333333"/>
                </a:solidFill>
                <a:latin typeface="Cambria Math"/>
              </a:rPr>
              <a:t>β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[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R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]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β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-profile sweep collapses to AR(1) limit as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β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∞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Optimal kernel: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11.50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0.614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84048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44"/>
                <a:gridCol w="1152144"/>
                <a:gridCol w="1152144"/>
                <a:gridCol w="1152144"/>
                <a:gridCol w="1152144"/>
              </a:tblGrid>
              <a:tr h="525780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log</a:t>
                      </a:r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 </a:t>
                      </a:r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AIC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Pearson Var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Standard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3835.11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7672.22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196.3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Inhomog.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513.15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1032.29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8.52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Hawkes (AR-1)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2003.81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4011.62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225.1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12648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i="0" b="1">
                <a:solidFill>
                  <a:srgbClr val="0B2A4A"/>
                </a:solidFill>
                <a:latin typeface="Calibri"/>
              </a:rPr>
              <a:t>IHP wins decisively  —  absorbs the day-0 exogenous shock the Hawkes cannot.</a:t>
            </a:r>
          </a:p>
        </p:txBody>
      </p:sp>
      <p:pic>
        <p:nvPicPr>
          <p:cNvPr id="10" name="Picture 9" descr="fig11_all_models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7300"/>
            <a:ext cx="5486400" cy="2283160"/>
          </a:xfrm>
          <a:prstGeom prst="rect">
            <a:avLst/>
          </a:prstGeom>
        </p:spPr>
      </p:pic>
      <p:pic>
        <p:nvPicPr>
          <p:cNvPr id="11" name="Picture 10" descr="fig8_hawkes_beta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042513"/>
            <a:ext cx="5486400" cy="23848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A  ·  Hybrid IHP + Hawkes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Combining exogenous trigger with endogenous self-excitation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852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i="0" b="1">
                <a:solidFill>
                  <a:srgbClr val="0B2A4A"/>
                </a:solidFill>
                <a:latin typeface="Calibri"/>
              </a:rPr>
              <a:t>Hybrid (full):  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A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e</a:t>
            </a:r>
            <a:r>
              <a:rPr sz="1080" i="0" b="0" baseline="30000">
                <a:solidFill>
                  <a:srgbClr val="0B2A4A"/>
                </a:solidFill>
                <a:latin typeface="Cambria Math"/>
              </a:rPr>
              <a:t>−</a:t>
            </a:r>
            <a:r>
              <a:rPr sz="1080" i="1" b="0" baseline="30000">
                <a:solidFill>
                  <a:srgbClr val="0B2A4A"/>
                </a:solidFill>
                <a:latin typeface="Cambria Math"/>
              </a:rPr>
              <a:t>β</a:t>
            </a:r>
            <a:r>
              <a:rPr sz="777" i="0" b="0" baseline="5000">
                <a:solidFill>
                  <a:srgbClr val="0B2A4A"/>
                </a:solidFill>
                <a:latin typeface="Cambria Math"/>
              </a:rPr>
              <a:t>0</a:t>
            </a:r>
            <a:r>
              <a:rPr sz="1080" i="0" b="0" baseline="30000">
                <a:solidFill>
                  <a:srgbClr val="0B2A4A"/>
                </a:solidFill>
                <a:latin typeface="Cambria Math"/>
              </a:rPr>
              <a:t> </a:t>
            </a:r>
            <a:r>
              <a:rPr sz="1080" i="1" b="0" baseline="30000">
                <a:solidFill>
                  <a:srgbClr val="0B2A4A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c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α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R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5852160" cy="2560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IHP term absorbs the day-0 burst (489 articles)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Hawkes term carries the self-exciting tail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Two timescales: fast exogenous decay (half-life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1.75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d) + slow endogenous persistence (half-life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8.2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LRT  IHP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Hybrid-AR1: 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Δ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ℓ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124.4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0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LRT  Hybrid-AR1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Hybrid-full: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3.7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10</a:t>
            </a:r>
            <a:r>
              <a:rPr sz="936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936" i="0" b="0" baseline="30000">
                <a:solidFill>
                  <a:srgbClr val="333333"/>
                </a:solidFill>
                <a:latin typeface="Cambria Math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160520"/>
          <a:ext cx="58521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</a:tblGrid>
              <a:tr h="358140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1" b="0">
                          <a:solidFill>
                            <a:srgbClr val="FFFFFF"/>
                          </a:solidFill>
                          <a:latin typeface="Cambria Math"/>
                        </a:rPr>
                        <a:t>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AIC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BIC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Standard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7672.22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7674.73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Inhomog.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1032.29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1039.82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Hawkes (AR-1)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4011.62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4016.65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Hybrid IHP+Hawkes (AR-1)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785.59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795.63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Hybrid IHP+Hawkes (full)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752.80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765.35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" name="Picture 9" descr="fig13_hybrid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6330" y="1005840"/>
            <a:ext cx="4415339" cy="2743200"/>
          </a:xfrm>
          <a:prstGeom prst="rect">
            <a:avLst/>
          </a:prstGeom>
        </p:spPr>
      </p:pic>
      <p:pic>
        <p:nvPicPr>
          <p:cNvPr id="11" name="Picture 10" descr="fig14_hybrid_early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63857"/>
            <a:ext cx="5486400" cy="24507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Setup and the Shared Binomial Likelihood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Conditioning on </a:t>
            </a:r>
            <a:r>
              <a:rPr sz="1300" i="1" b="0">
                <a:solidFill>
                  <a:srgbClr val="CFD8E5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CFD8E5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CFD8E5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CFD8E5"/>
                </a:solidFill>
                <a:latin typeface="Calibri"/>
              </a:rPr>
              <a:t> puts Hawkes and Markov on a common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623560" cy="5486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Goal: model the reliable / unreliable split, not the total volume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q</a:t>
            </a:r>
            <a:r>
              <a:rPr sz="792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article on day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is reliable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Daily observations: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;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;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/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Why a shared likelihood is needed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Hawkes natively scores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via a Poisson log-likelihood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Markov natively scores the transition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via a multinomial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Native AICs are on different scales — not directly comparable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Resolution: condition on the observed total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and score the composition only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Justified by the Poisson–binomial superposition identity (right)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Semantically correct: Part B is about the *distribution*, not the volume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Constant-in-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q</a:t>
            </a:r>
            <a:r>
              <a:rPr sz="936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terms (the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C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,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factor) cancel in every model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960120"/>
            <a:ext cx="5760720" cy="1554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17920" y="960120"/>
            <a:ext cx="576072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27648" y="996696"/>
            <a:ext cx="554126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200" i="0" b="1">
                <a:solidFill>
                  <a:srgbClr val="FFFFFF"/>
                </a:solidFill>
                <a:latin typeface="Calibri"/>
              </a:rPr>
              <a:t>Poisson – binomial superposition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362456"/>
            <a:ext cx="5431536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If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X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∼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Pois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 and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Y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∼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Pois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2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 independently,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300" i="1" b="0">
                <a:solidFill>
                  <a:srgbClr val="0B2A4A"/>
                </a:solidFill>
                <a:latin typeface="Cambria Math"/>
              </a:rPr>
              <a:t>X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|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X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Y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∼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Binomial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\left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 / 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2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\right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777777"/>
                </a:solidFill>
                <a:latin typeface="Calibri"/>
              </a:rPr>
              <a:t>⇒ applied to 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777777"/>
                </a:solidFill>
                <a:latin typeface="Cambria Math"/>
              </a:rPr>
              <a:t>N</a:t>
            </a:r>
            <a:r>
              <a:rPr sz="719" i="0" b="0" baseline="-25000">
                <a:solidFill>
                  <a:srgbClr val="777777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777777"/>
                </a:solidFill>
                <a:latin typeface="Cambria Math"/>
              </a:rPr>
              <a:t>N</a:t>
            </a:r>
            <a:r>
              <a:rPr sz="719" i="0" b="0" baseline="-25000">
                <a:solidFill>
                  <a:srgbClr val="777777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777777"/>
                </a:solidFill>
                <a:latin typeface="Calibri"/>
              </a:rPr>
              <a:t>, this is the binomial that scores the 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651760"/>
            <a:ext cx="5760720" cy="173736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2651760"/>
            <a:ext cx="576072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2688336"/>
            <a:ext cx="554126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200" i="0" b="1">
                <a:solidFill>
                  <a:srgbClr val="FFFFFF"/>
                </a:solidFill>
                <a:latin typeface="Calibri"/>
              </a:rPr>
              <a:t>Conditional binomial log-likelihood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054096"/>
            <a:ext cx="5431536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Per day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 with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&gt;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0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: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300" i="0" b="0">
                <a:solidFill>
                  <a:srgbClr val="0B2A4A"/>
                </a:solidFill>
                <a:latin typeface="Cambria Math"/>
              </a:rPr>
              <a:t>ℓ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C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300" i="0" b="0">
                <a:solidFill>
                  <a:srgbClr val="0B2A4A"/>
                </a:solidFill>
                <a:latin typeface="Calibri"/>
              </a:rPr>
              <a:t>Total: 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ℓ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∑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: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\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N</a:t>
            </a:r>
            <a:r>
              <a:rPr sz="673" i="0" b="0" baseline="-50000">
                <a:solidFill>
                  <a:srgbClr val="0B2A4A"/>
                </a:solidFill>
                <a:latin typeface="Cambria Math"/>
              </a:rPr>
              <a:t>tot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(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)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&gt;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0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ℓ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libri"/>
              </a:rPr>
              <a:t>,  effective sample size 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eff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86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526280"/>
            <a:ext cx="5760720" cy="196596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17920" y="4526280"/>
            <a:ext cx="576072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27648" y="4562856"/>
            <a:ext cx="554126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200" i="0" b="1">
                <a:solidFill>
                  <a:srgbClr val="FFFFFF"/>
                </a:solidFill>
                <a:latin typeface="Calibri"/>
              </a:rPr>
              <a:t>Model-specific reliable fraction  </a:t>
            </a:r>
            <a:r>
              <a:rPr sz="1200" i="1" b="0">
                <a:solidFill>
                  <a:srgbClr val="FFFFFF"/>
                </a:solidFill>
                <a:latin typeface="Cambria Math"/>
              </a:rPr>
              <a:t>q</a:t>
            </a:r>
            <a:r>
              <a:rPr sz="864" i="1" b="0" baseline="-25000">
                <a:solidFill>
                  <a:srgbClr val="FFFFFF"/>
                </a:solidFill>
                <a:latin typeface="Cambria Math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928616"/>
            <a:ext cx="5431536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Hawkes (Poisson superposition):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2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\dfrac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}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}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Markov (one-step transition):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2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Model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Four candidates on the shared binomial scale — full functional forms and derivations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914400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50976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1.  Multivariate Hawkes  (AR-1 limit,  6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316736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μ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∑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j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∈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{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\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}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j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j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\quad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k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∈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}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Parameters: baselines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 and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branching matrix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n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Stationarity constraint: spectral radius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ρ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&lt;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, enforced during optimisation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direct 2-D lift of Part A's AR(1) Hawkes;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β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∞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collapse inherited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Implied split: 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q</a:t>
            </a:r>
            <a:r>
              <a:rPr sz="719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/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914400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914400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27648" y="950976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2z.  Homogeneous Markov  (null,  2 params)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316736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\begin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{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pmatrix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}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&amp;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&amp;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\end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{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pmatrix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}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\quad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rows sum to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Two free parameters (one per row after the simplex constraint)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assume article-level first-order Markov; aggregate to daily proportions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Stationary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·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solves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·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·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0.39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0.61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 —  null benchmark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30752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65760" y="3730752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5488" y="3767328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2a.  State-dependent Markov  (regime-switching,  4 params)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133088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x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argmax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∈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}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(</a:t>
            </a:r>
            <a:r>
              <a:rPr sz="792" i="1" b="0" baseline="30000">
                <a:solidFill>
                  <a:srgbClr val="0B2A4A"/>
                </a:solidFill>
                <a:latin typeface="Cambria Math"/>
              </a:rPr>
              <a:t>x</a:t>
            </a:r>
            <a:r>
              <a:rPr sz="570" i="1" b="0" baseline="5000">
                <a:solidFill>
                  <a:srgbClr val="0B2A4A"/>
                </a:solidFill>
                <a:latin typeface="Cambria Math"/>
              </a:rPr>
              <a:t>t</a:t>
            </a:r>
            <a:r>
              <a:rPr sz="570" i="0" b="0" baseline="5000">
                <a:solidFill>
                  <a:srgbClr val="0B2A4A"/>
                </a:solidFill>
                <a:latin typeface="Cambria Math"/>
              </a:rPr>
              <a:t>−</a:t>
            </a:r>
            <a:r>
              <a:rPr sz="570" i="0" b="0" baseline="5000">
                <a:solidFill>
                  <a:srgbClr val="0B2A4A"/>
                </a:solidFill>
                <a:latin typeface="Cambria Math"/>
              </a:rPr>
              <a:t>1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\quad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(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neg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(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pos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separately fit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Two regime-specific transition matrices, keyed on yesterday's majority class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treat the shock regime (neg-majority,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\le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12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days) as a discrete latent state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Threshold at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0.5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is model-imposed and abrupt — smoothed by 2b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30752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217920" y="3730752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27648" y="3767328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2b.  Mean-field Markov  (logistic links,  4 params)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133088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σ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!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a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0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a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σ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!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b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0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b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Remaining entries from the row-sum constraint; 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σ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u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/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e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719" i="1" b="0" baseline="30000">
                <a:solidFill>
                  <a:srgbClr val="333333"/>
                </a:solidFill>
                <a:latin typeface="Cambria Math"/>
              </a:rPr>
              <a:t>u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continuous analogue of 2a — regime dependence becomes a smooth function of the empirical proportion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Nests the null at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b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 ⇒  clean LRT, df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;  precursor to McKean–Vlasov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Multivariate Hawkes — Cross-Excitation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Branching matrix between reliable and unreliable streams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852160" cy="2560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Baselines: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3.12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8.38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Spectral radius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ρ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0.633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stationary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Within-category excitation: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nn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0.44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pp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0.37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Cross-excitation is non-trivial: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pn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0.32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np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0.16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Reliability is not a closed ecosystem — streams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57600"/>
            <a:ext cx="5852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i="0" b="0">
                <a:solidFill>
                  <a:srgbClr val="333333"/>
                </a:solidFill>
                <a:latin typeface="Calibri"/>
              </a:rPr>
              <a:t>Justification: Hawkes is the natural multivariate generalisation of Part A's winner;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977639"/>
            <a:ext cx="5852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i="0" b="0">
                <a:solidFill>
                  <a:srgbClr val="333333"/>
                </a:solidFill>
                <a:latin typeface="Calibri"/>
              </a:rPr>
              <a:t>branching matrix gives mechanistic, interpretable cross-excitation estimates.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617720"/>
            <a:ext cx="5852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983480"/>
            <a:ext cx="58521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An unreliable article today triggers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0.32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reliable articles tomorrow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A reliable article today triggers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0.16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unreliable articles tomorrow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Mildly diagonal-dominant, sub-critical, and consistent with Part A</a:t>
            </a:r>
          </a:p>
        </p:txBody>
      </p:sp>
      <p:pic>
        <p:nvPicPr>
          <p:cNvPr id="12" name="Picture 11" descr="fig3_hawkes_branch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55" y="1005840"/>
            <a:ext cx="3605729" cy="2743200"/>
          </a:xfrm>
          <a:prstGeom prst="rect">
            <a:avLst/>
          </a:prstGeom>
        </p:spPr>
      </p:pic>
      <p:pic>
        <p:nvPicPr>
          <p:cNvPr id="13" name="Picture 12" descr="fig4_hawkes_fitted_vs_observ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657" y="3840480"/>
            <a:ext cx="4510125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Markov Variants — Regime Switching &amp; Mean-Field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Two parameterisations of state-dependent transition probabilities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State-dependent (regime-switching) Markov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585216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Two transition matrices keyed on yesterday's majority state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Pos-majority regime: both classes sticky 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nn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0.68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pp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0.76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Neg-majority regime: dynamics push toward reliable 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0.73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20040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Mean-field Markov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66160"/>
            <a:ext cx="58521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Logistic links: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σ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σ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b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b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Fitted: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1.15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3.96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 strong mean reversion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When reliable share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↓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conversion to reliable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↑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sharply (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0.76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0.06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Smooth, identifiable analogue of the regime-switching matrix</a:t>
            </a:r>
          </a:p>
        </p:txBody>
      </p:sp>
      <p:pic>
        <p:nvPicPr>
          <p:cNvPr id="11" name="Picture 10" descr="fig5_markov_regime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065393"/>
            <a:ext cx="5486400" cy="2624094"/>
          </a:xfrm>
          <a:prstGeom prst="rect">
            <a:avLst/>
          </a:prstGeom>
        </p:spPr>
      </p:pic>
      <p:pic>
        <p:nvPicPr>
          <p:cNvPr id="12" name="Picture 11" descr="fig6_meanfield_P_traj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176464"/>
            <a:ext cx="5486400" cy="20255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Model Comparison on Shared Binomial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Effective sample size </a:t>
            </a:r>
            <a:r>
              <a:rPr sz="1300" i="1" b="0">
                <a:solidFill>
                  <a:srgbClr val="CFD8E5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CFD8E5"/>
                </a:solidFill>
                <a:latin typeface="Cambria Math"/>
              </a:rPr>
              <a:t>eff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86</a:t>
            </a:r>
            <a:r>
              <a:rPr sz="1300" i="0" b="0">
                <a:solidFill>
                  <a:srgbClr val="CFD8E5"/>
                </a:solidFill>
                <a:latin typeface="Calibri"/>
              </a:rPr>
              <a:t> days with at least one article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5156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1170432"/>
                <a:gridCol w="1170432"/>
                <a:gridCol w="1170432"/>
                <a:gridCol w="1170432"/>
              </a:tblGrid>
              <a:tr h="438912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log</a:t>
                      </a:r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 </a:t>
                      </a:r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AIC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BIC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Multivariate Hawkes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156.93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325.87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340.60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Homogeneous Markov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162.75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329.50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334.41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State-dependent Markov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157.33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322.65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332.47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Mean-field Markov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157.56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323.13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332.94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38328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1">
                <a:solidFill>
                  <a:srgbClr val="0B2A4A"/>
                </a:solidFill>
                <a:latin typeface="Calibri"/>
              </a:rPr>
              <a:t>Likelihood ratio tests vs homogeneous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703320"/>
            <a:ext cx="585216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State-dep Markov: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LR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10.85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df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4.4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3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Mean-field Markov: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LR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10.37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df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5.6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98348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Why Markov beats Hawkes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349240"/>
            <a:ext cx="585216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Hawkes spends parameters on total counts, not the split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∼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86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%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of days are pos-majority — a single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captures most dynamics</a:t>
            </a:r>
          </a:p>
        </p:txBody>
      </p:sp>
      <p:pic>
        <p:nvPicPr>
          <p:cNvPr id="12" name="Picture 11" descr="fig7_fitted_propor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234677"/>
            <a:ext cx="5486400" cy="2285526"/>
          </a:xfrm>
          <a:prstGeom prst="rect">
            <a:avLst/>
          </a:prstGeom>
        </p:spPr>
      </p:pic>
      <p:pic>
        <p:nvPicPr>
          <p:cNvPr id="13" name="Picture 12" descr="fig9_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213831"/>
            <a:ext cx="5486400" cy="19507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Interpretation — A Mean-Reverting Reliability Ecology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What the winning models say about the news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113385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The system has a stable equilibrium near </a:t>
            </a:r>
            <a:r>
              <a:rPr sz="15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1080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0.63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 — the empirical reliable share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When the reliable share drops below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0.5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 (only at the initial shock), strong restoring forces fire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State-dependent Markov: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jumps to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0.73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in the neg-majority regime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Mean-field Markov: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is a steeply decreasing function of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Hawkes branching matrix encodes the same story mechanistically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Reliable articles preferentially trigger more reliable articles  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pp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&gt;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np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)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Unreliable articles trigger reliable and unreliable articles nearly symmetrically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Choice of model depends on the question being asked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Distribution dynamics 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 Markov variants are most efficient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Mechanistic cross-excitation 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 Multivariate Hawkes is most informative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Synthetic recovery passed (max rel. error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20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%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 at </a:t>
            </a:r>
            <a:r>
              <a:rPr sz="15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500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) — estimates are trustworthy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Conclusions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0120"/>
            <a:ext cx="566928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i="0" b="1">
                <a:solidFill>
                  <a:srgbClr val="0B2A4A"/>
                </a:solidFill>
                <a:latin typeface="Calibri"/>
              </a:rPr>
              <a:t>Summary of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56692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Counting process is best modelled by a hybrid IHP + Hawkes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Exogenous shock + endogenous amplification at distinct timescales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Reliability split is best modelled by a state-dependent Markov chain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Mean-field Markov is statistically indistinguishable and smoother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Cross-excitation between reliable and unreliable streams is non-trivial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Reliability ecology is mean-reverting around the empirical equilibrium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6012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i="0" b="1">
                <a:solidFill>
                  <a:srgbClr val="0B2A4A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McKean–Vlasov formulation for continuous-time, distribution-dependent transitions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Replace discrete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with an SDE driven by the empirical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measure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Use raw NewsGuard scores (continuous) instead of the binary label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Recovers within-class heterogeneity lost to the median threshold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Enables regression / functional models on a real-valued reliability axis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Replicate across additional events to test generality of the hybrid + Markov story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Extend hybrid model with explicit weekly seasonality (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Δ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AIC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148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in exploration)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